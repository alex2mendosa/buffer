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Can we train an ML model on individual customers' data, locally?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Answer the 7 questions in order, then step 8 (DPIA). Scope: business purposes, data stays on bank servers. Full text: ml_training_personal_data_statements.md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1143000" cy="1051560"/>
          </a:xfrm>
          <a:prstGeom prst="roundRect">
            <a:avLst>
              <a:gd name="adj" fmla="val 8000"/>
            </a:avLst>
          </a:prstGeom>
          <a:solidFill>
            <a:srgbClr val="1F2A44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START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New ML idea using data of individual customers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10512" y="11430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1 · Business purpose?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Better service, faster processes. Not AML, capital models or NBM reporting.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LP195 art. 6(1)(c), 6(3)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1104" y="11430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2 · Data stays inside the bank?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Bank servers, bank staff only. No vendor, cloud or AI service (e.g. Claude).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Law 202 art. 96(1)–(3)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11696" y="11430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3 · Sensitive data in it?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Race or ethnicity, politics, religion or beliefs, union, health, sex life or orientation, genetic, biometric ID, crimes? Check merchants, free text.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LP195 art. 9(1), 9(2)(a),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62288" y="114300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4 · Legal basis passes?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Legitimate interest not overridden by customers' rights + new purpose compatible (6(5) factors). Written down, plus record of processing.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LP195 art. 5(2), 6(1)(f), 6(5), 30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1805940"/>
            <a:ext cx="347472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13631" y="1805940"/>
            <a:ext cx="347473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50207" y="1513332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64224" y="1805940"/>
            <a:ext cx="347472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1513332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14816" y="1805940"/>
            <a:ext cx="347472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851392" y="1513332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62072" y="246888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16936" y="2441448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0512" y="274320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ECECEC"/>
          </a:solidFill>
          <a:ln w="1905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888888"/>
                </a:solidFill>
                <a:latin typeface="Calibri"/>
              </a:rPr>
              <a:t>OUT OF SCOPE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Regulatory work is checked separately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12664" y="246888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67528" y="2441448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274320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ECECEC"/>
          </a:solidFill>
          <a:ln w="1905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888888"/>
                </a:solidFill>
                <a:latin typeface="Calibri"/>
              </a:rPr>
              <a:t>OUT OF SCOPE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Sending data out is a separate check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63256" y="246888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18120" y="2441448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11696" y="274320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 w="19050">
            <a:solidFill>
              <a:srgbClr val="B581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B58105"/>
                </a:solidFill>
                <a:latin typeface="Calibri"/>
              </a:rPr>
              <a:t>Remove or generalise → go to 4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Can't? STOP: needs explicit consent (interpretation). Criminal data: not usable.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213848" y="246888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268712" y="2441448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62288" y="274320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 w="19050">
            <a:solidFill>
              <a:srgbClr val="B581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B58105"/>
                </a:solidFill>
                <a:latin typeface="Calibri"/>
              </a:rPr>
              <a:t>Not written: write first. Test fails: STOP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Consent (art. 6(1)(a)) is the only other route</a:t>
            </a:r>
          </a:p>
        </p:txBody>
      </p:sp>
      <p:sp>
        <p:nvSpPr>
          <p:cNvPr id="28" name="Oval 27"/>
          <p:cNvSpPr/>
          <p:nvPr/>
        </p:nvSpPr>
        <p:spPr>
          <a:xfrm>
            <a:off x="11375136" y="1600200"/>
            <a:ext cx="411480" cy="4114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265408" y="1805940"/>
            <a:ext cx="109728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420856" y="1257300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sp>
        <p:nvSpPr>
          <p:cNvPr id="31" name="Oval 30"/>
          <p:cNvSpPr/>
          <p:nvPr/>
        </p:nvSpPr>
        <p:spPr>
          <a:xfrm>
            <a:off x="320040" y="4160520"/>
            <a:ext cx="411480" cy="411480"/>
          </a:xfrm>
          <a:prstGeom prst="ellipse">
            <a:avLst/>
          </a:prstGeom>
          <a:solidFill>
            <a:srgbClr val="1F2A44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8992" y="370332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5 · Customers told first?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Told BEFORE training: new purpose, legitimate interest, storage, their rights. Right to object shown clearly and separately.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LP195 art. 13(1)(d), 13(2)–(3), 14(4), 21(4)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9584" y="370332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6 · Objectors removed?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Customers who objected are taken out of the extract. Always for marketing models.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LP195 art. 21(1)–(3)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0175" y="3703320"/>
            <a:ext cx="2103120" cy="132588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F2A44"/>
                </a:solidFill>
                <a:latin typeface="Calibri"/>
              </a:rPr>
              <a:t>7 · Enough with anonymous data?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Can the model work on data where no customer can be identified (e.g. totals by segment, period, product)?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LP195 art. 5(1)(c); 54(1) by analogy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1520" y="4366259"/>
            <a:ext cx="347472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182112" y="4366259"/>
            <a:ext cx="347472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18688" y="4073651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32704" y="4366259"/>
            <a:ext cx="347471" cy="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0" y="4073651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130552" y="502920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185416" y="5001768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8992" y="530352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 w="19050">
            <a:solidFill>
              <a:srgbClr val="B581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B58105"/>
                </a:solidFill>
                <a:latin typeface="Calibri"/>
              </a:rPr>
              <a:t>Inform them first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Training waits until customers have been informed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81144" y="5029200"/>
            <a:ext cx="0" cy="274320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636007" y="5001768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29584" y="5303520"/>
            <a:ext cx="2103120" cy="731520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 w="19050">
            <a:solidFill>
              <a:srgbClr val="B581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B58105"/>
                </a:solidFill>
                <a:latin typeface="Calibri"/>
              </a:rPr>
              <a:t>Remove them first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F2A44"/>
                </a:solidFill>
                <a:latin typeface="Calibri"/>
              </a:rPr>
              <a:t>Non-marketing: keep only with written compelling grounds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40496" y="3611880"/>
            <a:ext cx="3331159" cy="1234440"/>
          </a:xfrm>
          <a:prstGeom prst="roundRect">
            <a:avLst>
              <a:gd name="adj" fmla="val 8000"/>
            </a:avLst>
          </a:prstGeom>
          <a:solidFill>
            <a:srgbClr val="D1E7DD"/>
          </a:solidFill>
          <a:ln w="19050">
            <a:solidFill>
              <a:srgbClr val="146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46C43"/>
                </a:solidFill>
                <a:latin typeface="Calibri"/>
              </a:rPr>
              <a:t>YES → ANONYMISE, THEN TRAIN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Questions 1–6 still apply to the anonymising step · no key or mapping table kept · no customer or customer activity can be identified · proof written down (doc §10.8).</a:t>
            </a:r>
          </a:p>
          <a:p>
            <a:pPr algn="ctr">
              <a:spcAft>
                <a:spcPts val="200"/>
              </a:spcAft>
            </a:pPr>
            <a:r>
              <a:rPr sz="1000" b="0" i="1">
                <a:solidFill>
                  <a:srgbClr val="1F2A44"/>
                </a:solidFill>
                <a:latin typeface="Calibri"/>
              </a:rPr>
              <a:t>Training set is then outside the data protection law (interpretation; no legal test exists).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LP195 art. 2(1), 4, 5(2)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40496" y="4956048"/>
            <a:ext cx="3331159" cy="1325880"/>
          </a:xfrm>
          <a:prstGeom prst="roundRect">
            <a:avLst>
              <a:gd name="adj" fmla="val 8000"/>
            </a:avLst>
          </a:prstGeom>
          <a:solidFill>
            <a:srgbClr val="D1E7DD"/>
          </a:solidFill>
          <a:ln w="19050">
            <a:solidFill>
              <a:srgbClr val="146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46C43"/>
                </a:solidFill>
                <a:latin typeface="Calibri"/>
              </a:rPr>
              <a:t>NO → PSEUDONYMISE, THEN TRAIN</a:t>
            </a:r>
          </a:p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1F2A44"/>
                </a:solidFill>
                <a:latin typeface="Calibri"/>
              </a:rPr>
              <a:t>Only needed fields · IDs replaced by codes, key stored separately · limited access · encrypted where appropriate · deletion date set · DPIA done (step 8).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LP195 art. 4, 5(1)(c),(e), 25, 32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80175" y="5120640"/>
            <a:ext cx="2103120" cy="1161288"/>
          </a:xfrm>
          <a:prstGeom prst="roundRect">
            <a:avLst>
              <a:gd name="adj" fmla="val 8000"/>
            </a:avLst>
          </a:prstGeom>
          <a:solidFill>
            <a:srgbClr val="E8E2F4"/>
          </a:solidFill>
          <a:ln w="19050">
            <a:solidFill>
              <a:srgbClr val="5B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5B3F8C"/>
                </a:solidFill>
                <a:latin typeface="Calibri"/>
              </a:rPr>
              <a:t>8 · DPIA before training (both routes)</a:t>
            </a:r>
          </a:p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2A44"/>
                </a:solidFill>
                <a:latin typeface="Calibri"/>
              </a:rPr>
              <a:t>Written: purpose, data, legitimate interest, necessity, risks, safeguards. Required if high risk; otherwise cautious course. Risk left? Consult the Centre.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555B66"/>
                </a:solidFill>
                <a:latin typeface="Calibri"/>
              </a:rPr>
              <a:t>LP195 art. 35(1), (3), (7); 36(1)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083296" y="4183379"/>
            <a:ext cx="457200" cy="45721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129016" y="3817620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Yes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083296" y="4549140"/>
            <a:ext cx="457200" cy="1069848"/>
          </a:xfrm>
          <a:prstGeom prst="line">
            <a:avLst/>
          </a:prstGeom>
          <a:ln w="22225">
            <a:solidFill>
              <a:srgbClr val="555B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302752" y="4640579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6345936"/>
            <a:ext cx="274320" cy="182880"/>
          </a:xfrm>
          <a:prstGeom prst="rect">
            <a:avLst/>
          </a:prstGeom>
          <a:solidFill>
            <a:srgbClr val="F1F4F9"/>
          </a:solidFill>
          <a:ln w="1905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" y="6309360"/>
            <a:ext cx="1554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 i="0">
                <a:solidFill>
                  <a:srgbClr val="1F2A44"/>
                </a:solidFill>
                <a:latin typeface="Calibri"/>
              </a:rPr>
              <a:t>Question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31720" y="6345936"/>
            <a:ext cx="274320" cy="182880"/>
          </a:xfrm>
          <a:prstGeom prst="rect">
            <a:avLst/>
          </a:prstGeom>
          <a:solidFill>
            <a:srgbClr val="FFF3CD"/>
          </a:solidFill>
          <a:ln w="19050">
            <a:solidFill>
              <a:srgbClr val="B581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60904" y="6309360"/>
            <a:ext cx="1554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 i="0">
                <a:solidFill>
                  <a:srgbClr val="1F2A44"/>
                </a:solidFill>
                <a:latin typeface="Calibri"/>
              </a:rPr>
              <a:t>Fix first, then go 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400" y="6345936"/>
            <a:ext cx="274320" cy="182880"/>
          </a:xfrm>
          <a:prstGeom prst="rect">
            <a:avLst/>
          </a:prstGeom>
          <a:solidFill>
            <a:srgbClr val="ECECEC"/>
          </a:solidFill>
          <a:ln w="1905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72584" y="6309360"/>
            <a:ext cx="1554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 i="0">
                <a:solidFill>
                  <a:srgbClr val="1F2A44"/>
                </a:solidFill>
                <a:latin typeface="Calibri"/>
              </a:rPr>
              <a:t>Out of scope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6345936"/>
            <a:ext cx="274320" cy="182880"/>
          </a:xfrm>
          <a:prstGeom prst="rect">
            <a:avLst/>
          </a:prstGeom>
          <a:solidFill>
            <a:srgbClr val="D1E7DD"/>
          </a:solidFill>
          <a:ln w="19050">
            <a:solidFill>
              <a:srgbClr val="146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84264" y="6309360"/>
            <a:ext cx="1554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 i="0">
                <a:solidFill>
                  <a:srgbClr val="1F2A44"/>
                </a:solidFill>
                <a:latin typeface="Calibri"/>
              </a:rPr>
              <a:t>Can train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6345936"/>
            <a:ext cx="274320" cy="182880"/>
          </a:xfrm>
          <a:prstGeom prst="rect">
            <a:avLst/>
          </a:prstGeom>
          <a:solidFill>
            <a:srgbClr val="E8E2F4"/>
          </a:solidFill>
          <a:ln w="19050">
            <a:solidFill>
              <a:srgbClr val="5B3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6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95944" y="6309360"/>
            <a:ext cx="1554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50" b="0" i="0">
                <a:solidFill>
                  <a:srgbClr val="1F2A44"/>
                </a:solidFill>
                <a:latin typeface="Calibri"/>
              </a:rPr>
              <a:t>DPIA step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 i="1">
                <a:solidFill>
                  <a:srgbClr val="555B66"/>
                </a:solidFill>
                <a:latin typeface="Calibri"/>
              </a:rPr>
              <a:t>Company clients: their own data is not personal data, only banking secrecy applies (no anonymisation needed in-house); people named in it (directors, contacts, employees) go through this chart. Banking secrecy: in-house use is a "work purpose" if bank-assigned, bank staff only, data on bank servers (Law 202 art. 3, 96(3); doc point 9). LP195 = Law 195/2024.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