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Is our AI initiative an outsourcing?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Answer once per component (model, hosting, API service, data store, support). Unsure? Take the cautious branch.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1143000" cy="105156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START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AI initiative using an outside provider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10512" y="114300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1 · Provider does bank work, continuously?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Under a contract, a provider (a group company too) keeps doing work the bank ordinarily does itself.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Law 202 art. 3 "externalizare"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2583" y="114300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2 · On the excluded list?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e.g. market data, card networks, SWIFT, correspondent banking, legal opinions, office goods, utilities.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HBN46 Reg. pct. 9 subpct. 1)–7)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34655" y="114300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3 · Provider sees client or bank information?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Banking-secret or confidential client data, OR information about the bank's activities.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HBN46 Reg. pct. 9 subpct. 8)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1805940"/>
            <a:ext cx="347472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25112" y="1805940"/>
            <a:ext cx="347471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61688" y="1513332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87183" y="1805940"/>
            <a:ext cx="347472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23759" y="1513332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7812" y="246888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22676" y="244144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10512" y="2743200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 w="19050">
            <a:solidFill>
              <a:srgbClr val="146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46C43"/>
                </a:solidFill>
                <a:latin typeface="Calibri"/>
              </a:rPr>
              <a:t>NOT OUTSOURCING ★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e.g. a one-off purchase. New AI task: treat as Yes.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29883" y="246888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84747" y="244144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72583" y="2743200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 w="19050">
            <a:solidFill>
              <a:srgbClr val="146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46C43"/>
                </a:solidFill>
                <a:latin typeface="Calibri"/>
              </a:rPr>
              <a:t>NOT OUTSOURCING ★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AI services rarely fit. Write down why.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1955" y="246888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46819" y="244144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34655" y="2743200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 w="19050">
            <a:solidFill>
              <a:srgbClr val="146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46C43"/>
                </a:solidFill>
                <a:latin typeface="Calibri"/>
              </a:rPr>
              <a:t>NOT OUTSOURCING ★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Both must be No. Anonymised data: arguable.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23576" y="1325880"/>
            <a:ext cx="1548079" cy="960119"/>
          </a:xfrm>
          <a:prstGeom prst="roundRect">
            <a:avLst>
              <a:gd name="adj" fmla="val 8000"/>
            </a:avLst>
          </a:prstGeom>
          <a:solidFill>
            <a:srgbClr val="F8D7DA"/>
          </a:solidFill>
          <a:ln w="19050">
            <a:solidFill>
              <a:srgbClr val="B0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B02A37"/>
                </a:solidFill>
                <a:latin typeface="Calibri"/>
              </a:rPr>
              <a:t>IT IS OUTSOURCING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Go on to 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49255" y="1805940"/>
            <a:ext cx="274321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67543" y="1239012"/>
            <a:ext cx="457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097615" y="2286000"/>
            <a:ext cx="0" cy="59436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891875" y="2880360"/>
            <a:ext cx="411480" cy="4114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" y="4160520"/>
            <a:ext cx="411480" cy="4114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370332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4 · Material importance?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Any ONE: (a) failure could seriously harm regulatory duties or continuity; (b) needs a licence; (c) significant risk impact.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Law 202 art. 82(3); HBN46 Reg. pct. 21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4" y="370332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5 · ICT outsourcing?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What is outsourced is an ICT system or an ICT service (a service delivered through ICT systems), incl. cloud.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HBN46 Reg. pct. 2, 44(5), 59(13); HBN29 pct. 3.18, 3.20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0175" y="370332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6 · Critical ICT system?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Critical for continuity or information security AND essential to the bank's operations. Separate from 4.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HBN29 pct. 3.21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4366259"/>
            <a:ext cx="347472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82112" y="4366259"/>
            <a:ext cx="347472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00400" y="4073651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Next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32704" y="4366259"/>
            <a:ext cx="347471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50992" y="4073651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Next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30552" y="502920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185416" y="5001768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Unsure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8992" y="530352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9050">
            <a:solidFill>
              <a:srgbClr val="B581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B58105"/>
                </a:solidFill>
                <a:latin typeface="Calibri"/>
              </a:rPr>
              <a:t>Unsure? Treat as YES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Write down why, then go to 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81144" y="502920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636007" y="5001768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29584" y="530352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9050">
            <a:solidFill>
              <a:srgbClr val="B581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B58105"/>
                </a:solidFill>
                <a:latin typeface="Calibri"/>
              </a:rPr>
              <a:t>Add ICT rules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Contract clauses, cloud and country risk, exit plan (HBN46 pct. 58–62)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31736" y="502920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86599" y="5001768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80175" y="530352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9050">
            <a:solidFill>
              <a:srgbClr val="B581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B58105"/>
                </a:solidFill>
                <a:latin typeface="Calibri"/>
              </a:rPr>
              <a:t>Add critical-ICT rules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Retention and backups (HBN29 pct. 65–66)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0496" y="3611880"/>
            <a:ext cx="3331159" cy="1600200"/>
          </a:xfrm>
          <a:prstGeom prst="roundRect">
            <a:avLst>
              <a:gd name="adj" fmla="val 8000"/>
            </a:avLst>
          </a:prstGeom>
          <a:solidFill>
            <a:srgbClr val="F8D7DA"/>
          </a:solidFill>
          <a:ln w="19050">
            <a:solidFill>
              <a:srgbClr val="B0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B02A37"/>
                </a:solidFill>
                <a:latin typeface="Calibri"/>
              </a:rPr>
              <a:t>4 = YES → MATERIAL OUTSOURCING</a:t>
            </a:r>
          </a:p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F2A44"/>
                </a:solidFill>
                <a:latin typeface="Calibri"/>
              </a:rPr>
              <a:t>NBM approval BEFORE start. No approval, no start.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B02A37"/>
                </a:solidFill>
                <a:latin typeface="Calibri"/>
              </a:rPr>
              <a:t>CHAIN OUTSOURCING PROHIBITED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Then: notify NBM · annual external audit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Law 202 art. 82(1), (4); HBN46 Reg. pct. 19–20, 37–38, 43–44, 54, 56, 63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0496" y="5285232"/>
            <a:ext cx="3331159" cy="987552"/>
          </a:xfrm>
          <a:prstGeom prst="roundRect">
            <a:avLst>
              <a:gd name="adj" fmla="val 8000"/>
            </a:avLst>
          </a:prstGeom>
          <a:solidFill>
            <a:srgbClr val="DBE7F6"/>
          </a:solidFill>
          <a:ln w="19050">
            <a:solidFill>
              <a:srgbClr val="2F5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2F5D9A"/>
                </a:solidFill>
                <a:latin typeface="Calibri"/>
              </a:rPr>
              <a:t>4 = NO → OUTSOURCING, NOT MATERIAL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No prior approval. Written contract, register, incidents to NBM. Subcontracting only with the bank's consent.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HBN46 Reg. pct. 11–14, 31, 40, 50–51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083296" y="4183379"/>
            <a:ext cx="457200" cy="228601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101583" y="3680459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4 = Yes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83296" y="4549140"/>
            <a:ext cx="457200" cy="1229868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211312" y="4567427"/>
            <a:ext cx="320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6345936"/>
            <a:ext cx="274320" cy="182880"/>
          </a:xfrm>
          <a:prstGeom prst="rect">
            <a:avLst/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" y="6309360"/>
            <a:ext cx="1737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Question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6345936"/>
            <a:ext cx="274320" cy="182880"/>
          </a:xfrm>
          <a:prstGeom prst="rect">
            <a:avLst/>
          </a:prstGeom>
          <a:solidFill>
            <a:srgbClr val="FFF3CD"/>
          </a:solidFill>
          <a:ln w="19050">
            <a:solidFill>
              <a:srgbClr val="B581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15184" y="6309360"/>
            <a:ext cx="1737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Adds duties, go 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60" y="6345936"/>
            <a:ext cx="274320" cy="182880"/>
          </a:xfrm>
          <a:prstGeom prst="rect">
            <a:avLst/>
          </a:prstGeom>
          <a:solidFill>
            <a:srgbClr val="D1E7DD"/>
          </a:solidFill>
          <a:ln w="19050">
            <a:solidFill>
              <a:srgbClr val="146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81144" y="6309360"/>
            <a:ext cx="1737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Not outsourcing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6345936"/>
            <a:ext cx="274320" cy="182880"/>
          </a:xfrm>
          <a:prstGeom prst="rect">
            <a:avLst/>
          </a:prstGeom>
          <a:solidFill>
            <a:srgbClr val="DBE7F6"/>
          </a:solidFill>
          <a:ln w="19050">
            <a:solidFill>
              <a:srgbClr val="2F5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47104" y="6309360"/>
            <a:ext cx="1737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Outsourcing, not material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80" y="6345936"/>
            <a:ext cx="274320" cy="182880"/>
          </a:xfrm>
          <a:prstGeom prst="rect">
            <a:avLst/>
          </a:prstGeom>
          <a:solidFill>
            <a:srgbClr val="F8D7DA"/>
          </a:solidFill>
          <a:ln w="19050">
            <a:solidFill>
              <a:srgbClr val="B0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13064" y="6309360"/>
            <a:ext cx="1737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Material outsourcing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1">
                <a:solidFill>
                  <a:srgbClr val="555B66"/>
                </a:solidFill>
                <a:latin typeface="Calibri"/>
              </a:rPr>
              <a:t>★ Every path: the bank keeps final responsibility (Law 202 art. 82(5)) · ICT contracts need confidentiality clauses and an exit route (HBN29 pct. 32, 61) · personal data is a separate 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